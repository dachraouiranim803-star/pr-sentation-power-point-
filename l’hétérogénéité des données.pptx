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E14ED5-35A3-4D35-99AA-C10E9EF1D5EC}" type="datetimeFigureOut">
              <a:rPr lang="fr-FR" smtClean="0"/>
              <a:t>29/10/2025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FC5D0C-FB91-4FA2-8938-6C37AEA299B1}" type="slidenum">
              <a:rPr lang="fr-FR" smtClean="0"/>
              <a:t>‹N°›</a:t>
            </a:fld>
            <a:endParaRPr lang="fr-FR"/>
          </a:p>
        </p:txBody>
      </p:sp>
    </p:spTree>
    <p:extLst>
      <p:ext uri="{BB962C8B-B14F-4D97-AF65-F5344CB8AC3E}">
        <p14:creationId xmlns:p14="http://schemas.microsoft.com/office/powerpoint/2010/main" val="162659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9EAE9D25-2519-407A-AC8A-304C8571F846}" type="datetime1">
              <a:rPr lang="fr-FR" smtClean="0"/>
              <a:t>29/10/2025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214343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D05E276-D5C5-45D4-8987-1636F0415761}" type="datetime1">
              <a:rPr lang="fr-FR" smtClean="0"/>
              <a:t>29/10/2025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794910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20027476-FED6-4C2E-9135-D2433E11A4D0}" type="datetime1">
              <a:rPr lang="fr-FR" smtClean="0"/>
              <a:t>29/10/2025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4282489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1F4A10AB-27BA-454E-A065-B044332B9FE9}" type="datetime1">
              <a:rPr lang="fr-FR" smtClean="0"/>
              <a:t>29/10/2025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2361552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7FC1208B-42E8-47AA-AC74-60D8422710A5}" type="datetime1">
              <a:rPr lang="fr-FR" smtClean="0"/>
              <a:t>29/10/2025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277866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352543F2-3952-438F-8013-A7B25C41BAC2}" type="datetime1">
              <a:rPr lang="fr-FR" smtClean="0"/>
              <a:t>29/10/2025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64268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4EF3278-34BB-4321-B432-C1094C6C5775}" type="datetime1">
              <a:rPr lang="fr-FR" smtClean="0"/>
              <a:t>29/10/2025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1299932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5F99607-107F-4FA4-8766-E779CE8928DA}" type="datetime1">
              <a:rPr lang="fr-FR" smtClean="0"/>
              <a:t>29/10/2025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313112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2CBF5B3-C930-42F7-BB5A-4E26876B272D}" type="datetime1">
              <a:rPr lang="fr-FR" smtClean="0"/>
              <a:t>29/10/2025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1450350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6A7D65F-BDBA-47A4-9214-384BB9258FE4}" type="datetime1">
              <a:rPr lang="fr-FR" smtClean="0"/>
              <a:t>29/10/2025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3395852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2EFE625-44C1-4BE7-AEB8-F8A76B1EF2EF}" type="datetime1">
              <a:rPr lang="fr-FR" smtClean="0"/>
              <a:t>29/10/2025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79450D1-C7F1-47D9-876A-A462F1D2F357}" type="slidenum">
              <a:rPr lang="fr-FR" smtClean="0"/>
              <a:t>‹N°›</a:t>
            </a:fld>
            <a:endParaRPr lang="fr-FR"/>
          </a:p>
        </p:txBody>
      </p:sp>
    </p:spTree>
    <p:extLst>
      <p:ext uri="{BB962C8B-B14F-4D97-AF65-F5344CB8AC3E}">
        <p14:creationId xmlns:p14="http://schemas.microsoft.com/office/powerpoint/2010/main" val="4162556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CFD38C-A18F-43E9-BBD9-407D1224DF0A}" type="datetime1">
              <a:rPr lang="fr-FR" smtClean="0"/>
              <a:t>29/10/2025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9450D1-C7F1-47D9-876A-A462F1D2F357}" type="slidenum">
              <a:rPr lang="fr-FR" smtClean="0"/>
              <a:t>‹N°›</a:t>
            </a:fld>
            <a:endParaRPr lang="fr-FR"/>
          </a:p>
        </p:txBody>
      </p:sp>
    </p:spTree>
    <p:extLst>
      <p:ext uri="{BB962C8B-B14F-4D97-AF65-F5344CB8AC3E}">
        <p14:creationId xmlns:p14="http://schemas.microsoft.com/office/powerpoint/2010/main" val="2939958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836712"/>
            <a:ext cx="8229600" cy="1584176"/>
          </a:xfrm>
        </p:spPr>
        <p:txBody>
          <a:bodyPr>
            <a:normAutofit/>
          </a:bodyPr>
          <a:lstStyle/>
          <a:p>
            <a:r>
              <a:rPr lang="fr-FR" sz="2800" b="1" dirty="0" smtClean="0">
                <a:solidFill>
                  <a:srgbClr val="7030A0"/>
                </a:solidFill>
                <a:latin typeface="+mn-lt"/>
              </a:rPr>
              <a:t>Que est ce que l’hétérogénéité des données dans le contexte de l’integration  </a:t>
            </a:r>
            <a:endParaRPr lang="fr-FR" sz="2800" b="1" dirty="0">
              <a:solidFill>
                <a:srgbClr val="7030A0"/>
              </a:solidFill>
              <a:latin typeface="+mn-lt"/>
            </a:endParaRPr>
          </a:p>
        </p:txBody>
      </p:sp>
      <p:sp>
        <p:nvSpPr>
          <p:cNvPr id="3" name="ZoneTexte 2"/>
          <p:cNvSpPr txBox="1"/>
          <p:nvPr/>
        </p:nvSpPr>
        <p:spPr>
          <a:xfrm>
            <a:off x="185352" y="2564904"/>
            <a:ext cx="8928992" cy="2954655"/>
          </a:xfrm>
          <a:prstGeom prst="rect">
            <a:avLst/>
          </a:prstGeom>
          <a:noFill/>
        </p:spPr>
        <p:txBody>
          <a:bodyPr wrap="square" rtlCol="0">
            <a:spAutoFit/>
          </a:bodyPr>
          <a:lstStyle/>
          <a:p>
            <a:r>
              <a:rPr lang="fr-FR" sz="2400" dirty="0" smtClean="0">
                <a:latin typeface="+mj-lt"/>
                <a:cs typeface="Times New Roman" panose="02020603050405020304" pitchFamily="18" charset="0"/>
              </a:rPr>
              <a:t>L’hétérogénéité des données dans le contexte de l’intégration signifie que les données proviennent de sources différentes et qu’elles ne sont pas homogènes — c’est-à-dire qu’elles n’ont pas le même format, le même modèle, ni la même signification.</a:t>
            </a:r>
          </a:p>
          <a:p>
            <a:r>
              <a:rPr lang="fr-FR" sz="2400" dirty="0" smtClean="0">
                <a:latin typeface="+mj-lt"/>
                <a:cs typeface="Times New Roman" panose="02020603050405020304" pitchFamily="18" charset="0"/>
              </a:rPr>
              <a:t>Lorsqu’on veut intégrer ces données (par exemple dans un Data Warehouse ou un système d’analyse), cette diversité pose des problèmes de compatibilité qu’il faut résoudre</a:t>
            </a:r>
            <a:r>
              <a:rPr lang="fr-FR" sz="2400" dirty="0" smtClean="0">
                <a:latin typeface="Times New Roman" panose="02020603050405020304" pitchFamily="18" charset="0"/>
                <a:cs typeface="Times New Roman" panose="02020603050405020304" pitchFamily="18" charset="0"/>
              </a:rPr>
              <a:t>.</a:t>
            </a:r>
          </a:p>
          <a:p>
            <a:endParaRPr lang="fr-FR" dirty="0"/>
          </a:p>
        </p:txBody>
      </p:sp>
      <p:sp>
        <p:nvSpPr>
          <p:cNvPr id="5" name="Espace réservé du numéro de diapositive 4"/>
          <p:cNvSpPr>
            <a:spLocks noGrp="1"/>
          </p:cNvSpPr>
          <p:nvPr>
            <p:ph type="sldNum" sz="quarter" idx="12"/>
          </p:nvPr>
        </p:nvSpPr>
        <p:spPr/>
        <p:txBody>
          <a:bodyPr/>
          <a:lstStyle/>
          <a:p>
            <a:fld id="{E79450D1-C7F1-47D9-876A-A462F1D2F357}" type="slidenum">
              <a:rPr lang="fr-FR" smtClean="0"/>
              <a:t>1</a:t>
            </a:fld>
            <a:endParaRPr lang="fr-FR"/>
          </a:p>
        </p:txBody>
      </p:sp>
    </p:spTree>
    <p:extLst>
      <p:ext uri="{BB962C8B-B14F-4D97-AF65-F5344CB8AC3E}">
        <p14:creationId xmlns:p14="http://schemas.microsoft.com/office/powerpoint/2010/main" val="32324698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7030A0"/>
                </a:solidFill>
              </a:rPr>
              <a:t>Les étapes de l’hétérogénéité :</a:t>
            </a:r>
            <a:endParaRPr lang="fr-FR" b="1" dirty="0">
              <a:solidFill>
                <a:srgbClr val="7030A0"/>
              </a:solidFill>
            </a:endParaRPr>
          </a:p>
        </p:txBody>
      </p:sp>
      <p:sp>
        <p:nvSpPr>
          <p:cNvPr id="3" name="ZoneTexte 2"/>
          <p:cNvSpPr txBox="1"/>
          <p:nvPr/>
        </p:nvSpPr>
        <p:spPr>
          <a:xfrm>
            <a:off x="108760" y="1700808"/>
            <a:ext cx="8784976" cy="5909310"/>
          </a:xfrm>
          <a:prstGeom prst="rect">
            <a:avLst/>
          </a:prstGeom>
          <a:noFill/>
        </p:spPr>
        <p:txBody>
          <a:bodyPr wrap="square" rtlCol="0">
            <a:spAutoFit/>
          </a:bodyPr>
          <a:lstStyle/>
          <a:p>
            <a:r>
              <a:rPr lang="fr-FR" b="1" i="1" u="sng" dirty="0" smtClean="0">
                <a:solidFill>
                  <a:srgbClr val="0070C0"/>
                </a:solidFill>
              </a:rPr>
              <a:t>Il existe 3 grands types d’hétérogénéité :</a:t>
            </a:r>
          </a:p>
          <a:p>
            <a:r>
              <a:rPr lang="fr-FR" b="1" i="1" dirty="0" smtClean="0">
                <a:solidFill>
                  <a:srgbClr val="00B0F0"/>
                </a:solidFill>
              </a:rPr>
              <a:t>1/Hétérogénéité syntaxique</a:t>
            </a:r>
            <a:r>
              <a:rPr lang="fr-FR" dirty="0" smtClean="0">
                <a:solidFill>
                  <a:srgbClr val="00B0F0"/>
                </a:solidFill>
              </a:rPr>
              <a:t/>
            </a:r>
            <a:br>
              <a:rPr lang="fr-FR" dirty="0" smtClean="0">
                <a:solidFill>
                  <a:srgbClr val="00B0F0"/>
                </a:solidFill>
              </a:rPr>
            </a:br>
            <a:r>
              <a:rPr lang="fr-FR" dirty="0" smtClean="0"/>
              <a:t>➤ Les données n’ont pas le même format ou le même langage.</a:t>
            </a:r>
            <a:br>
              <a:rPr lang="fr-FR" dirty="0" smtClean="0"/>
            </a:br>
            <a:r>
              <a:rPr lang="fr-FR" u="sng" dirty="0" smtClean="0"/>
              <a:t>Exemple :</a:t>
            </a:r>
          </a:p>
          <a:p>
            <a:r>
              <a:rPr lang="fr-FR" dirty="0" smtClean="0"/>
              <a:t>*Une source en </a:t>
            </a:r>
            <a:r>
              <a:rPr lang="fr-FR" b="1" dirty="0" smtClean="0"/>
              <a:t>CSV</a:t>
            </a:r>
            <a:r>
              <a:rPr lang="fr-FR" dirty="0" smtClean="0"/>
              <a:t>, une autre en </a:t>
            </a:r>
            <a:r>
              <a:rPr lang="fr-FR" b="1" dirty="0" smtClean="0"/>
              <a:t>XML</a:t>
            </a:r>
            <a:r>
              <a:rPr lang="fr-FR" dirty="0" smtClean="0"/>
              <a:t>, une autre dans une </a:t>
            </a:r>
            <a:r>
              <a:rPr lang="fr-FR" b="1" dirty="0" smtClean="0"/>
              <a:t>base SQL</a:t>
            </a:r>
            <a:r>
              <a:rPr lang="fr-FR" dirty="0" smtClean="0"/>
              <a:t>.</a:t>
            </a:r>
          </a:p>
          <a:p>
            <a:r>
              <a:rPr lang="fr-FR" dirty="0" smtClean="0"/>
              <a:t>*Différence dans la représentation des dates : 2025-10-29 vs 29/10/2025.</a:t>
            </a:r>
          </a:p>
          <a:p>
            <a:r>
              <a:rPr lang="fr-FR" b="1" i="1" dirty="0" smtClean="0">
                <a:solidFill>
                  <a:srgbClr val="00B0F0"/>
                </a:solidFill>
              </a:rPr>
              <a:t>2/Hétérogénéité structurelle</a:t>
            </a:r>
            <a:r>
              <a:rPr lang="fr-FR" dirty="0" smtClean="0"/>
              <a:t/>
            </a:r>
            <a:br>
              <a:rPr lang="fr-FR" dirty="0" smtClean="0"/>
            </a:br>
            <a:r>
              <a:rPr lang="fr-FR" dirty="0" smtClean="0"/>
              <a:t>➤ Les structures de stockage ou les modèles de données sont différents.</a:t>
            </a:r>
            <a:br>
              <a:rPr lang="fr-FR" dirty="0" smtClean="0"/>
            </a:br>
            <a:r>
              <a:rPr lang="fr-FR" u="sng" dirty="0" smtClean="0"/>
              <a:t>Exemple :</a:t>
            </a:r>
          </a:p>
          <a:p>
            <a:r>
              <a:rPr lang="fr-FR" dirty="0" smtClean="0"/>
              <a:t>*Une base est </a:t>
            </a:r>
            <a:r>
              <a:rPr lang="fr-FR" b="1" dirty="0" smtClean="0"/>
              <a:t>relationnelle</a:t>
            </a:r>
            <a:r>
              <a:rPr lang="fr-FR" dirty="0" smtClean="0"/>
              <a:t>, une autre </a:t>
            </a:r>
            <a:r>
              <a:rPr lang="fr-FR" b="1" dirty="0" smtClean="0"/>
              <a:t>hiérarchique</a:t>
            </a:r>
            <a:r>
              <a:rPr lang="fr-FR" dirty="0" smtClean="0"/>
              <a:t> ou </a:t>
            </a:r>
            <a:r>
              <a:rPr lang="fr-FR" b="1" dirty="0" smtClean="0"/>
              <a:t>NoSQL</a:t>
            </a:r>
            <a:r>
              <a:rPr lang="fr-FR" dirty="0" smtClean="0"/>
              <a:t>.</a:t>
            </a:r>
          </a:p>
          <a:p>
            <a:r>
              <a:rPr lang="fr-FR" dirty="0" smtClean="0"/>
              <a:t>*Le même concept (ex. </a:t>
            </a:r>
            <a:r>
              <a:rPr lang="fr-FR" i="1" dirty="0" smtClean="0"/>
              <a:t>client</a:t>
            </a:r>
            <a:r>
              <a:rPr lang="fr-FR" dirty="0" smtClean="0"/>
              <a:t>) est stocké dans des tables différentes avec des attributs différents.</a:t>
            </a:r>
          </a:p>
          <a:p>
            <a:r>
              <a:rPr lang="fr-FR" b="1" dirty="0" smtClean="0">
                <a:solidFill>
                  <a:srgbClr val="00B0F0"/>
                </a:solidFill>
              </a:rPr>
              <a:t>3/Hétérogénéité sémantique</a:t>
            </a:r>
            <a:r>
              <a:rPr lang="fr-FR" dirty="0" smtClean="0"/>
              <a:t/>
            </a:r>
            <a:br>
              <a:rPr lang="fr-FR" dirty="0" smtClean="0"/>
            </a:br>
            <a:r>
              <a:rPr lang="fr-FR" dirty="0" smtClean="0"/>
              <a:t>➤ Les mêmes données ont des significations différentes selon la source.</a:t>
            </a:r>
            <a:br>
              <a:rPr lang="fr-FR" dirty="0" smtClean="0"/>
            </a:br>
            <a:r>
              <a:rPr lang="fr-FR" u="sng" dirty="0" smtClean="0"/>
              <a:t>Exemple :</a:t>
            </a:r>
          </a:p>
          <a:p>
            <a:r>
              <a:rPr lang="fr-FR" dirty="0" smtClean="0"/>
              <a:t>*Le champ montant peut signifier </a:t>
            </a:r>
            <a:r>
              <a:rPr lang="fr-FR" i="1" dirty="0" smtClean="0"/>
              <a:t>prix TTC</a:t>
            </a:r>
            <a:r>
              <a:rPr lang="fr-FR" dirty="0" smtClean="0"/>
              <a:t> dans une base et </a:t>
            </a:r>
            <a:r>
              <a:rPr lang="fr-FR" i="1" dirty="0" smtClean="0"/>
              <a:t>prix HT</a:t>
            </a:r>
            <a:r>
              <a:rPr lang="fr-FR" dirty="0" smtClean="0"/>
              <a:t> dans une autre.</a:t>
            </a:r>
          </a:p>
          <a:p>
            <a:r>
              <a:rPr lang="fr-FR" dirty="0" err="1" smtClean="0"/>
              <a:t>code_client</a:t>
            </a:r>
            <a:r>
              <a:rPr lang="fr-FR" dirty="0" smtClean="0"/>
              <a:t> peut représenter un numéro interne dans une entreprise et un identifiant externe dans une autre.</a:t>
            </a:r>
          </a:p>
          <a:p>
            <a:endParaRPr lang="fr-FR" dirty="0" smtClean="0"/>
          </a:p>
          <a:p>
            <a:endParaRPr lang="fr-FR" dirty="0" smtClean="0"/>
          </a:p>
          <a:p>
            <a:endParaRPr lang="fr-FR" dirty="0"/>
          </a:p>
        </p:txBody>
      </p:sp>
      <p:sp>
        <p:nvSpPr>
          <p:cNvPr id="5" name="Espace réservé du numéro de diapositive 4"/>
          <p:cNvSpPr>
            <a:spLocks noGrp="1"/>
          </p:cNvSpPr>
          <p:nvPr>
            <p:ph type="sldNum" sz="quarter" idx="12"/>
          </p:nvPr>
        </p:nvSpPr>
        <p:spPr/>
        <p:txBody>
          <a:bodyPr/>
          <a:lstStyle/>
          <a:p>
            <a:fld id="{E79450D1-C7F1-47D9-876A-A462F1D2F357}" type="slidenum">
              <a:rPr lang="fr-FR" smtClean="0"/>
              <a:t>2</a:t>
            </a:fld>
            <a:endParaRPr lang="fr-FR"/>
          </a:p>
        </p:txBody>
      </p:sp>
    </p:spTree>
    <p:extLst>
      <p:ext uri="{BB962C8B-B14F-4D97-AF65-F5344CB8AC3E}">
        <p14:creationId xmlns:p14="http://schemas.microsoft.com/office/powerpoint/2010/main" val="16033003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7030A0"/>
                </a:solidFill>
              </a:rPr>
              <a:t>Importance de l’hétérogénéité dans l’intégration Web sémantique</a:t>
            </a:r>
            <a:endParaRPr lang="fr-FR" b="1" dirty="0">
              <a:solidFill>
                <a:srgbClr val="7030A0"/>
              </a:solidFill>
            </a:endParaRPr>
          </a:p>
        </p:txBody>
      </p:sp>
      <p:sp>
        <p:nvSpPr>
          <p:cNvPr id="3" name="ZoneTexte 2"/>
          <p:cNvSpPr txBox="1"/>
          <p:nvPr/>
        </p:nvSpPr>
        <p:spPr>
          <a:xfrm>
            <a:off x="107568" y="2348879"/>
            <a:ext cx="8784976" cy="4247317"/>
          </a:xfrm>
          <a:prstGeom prst="rect">
            <a:avLst/>
          </a:prstGeom>
          <a:noFill/>
        </p:spPr>
        <p:txBody>
          <a:bodyPr wrap="square" rtlCol="0">
            <a:spAutoFit/>
          </a:bodyPr>
          <a:lstStyle/>
          <a:p>
            <a:r>
              <a:rPr lang="fr-FR" b="1" dirty="0" smtClean="0">
                <a:solidFill>
                  <a:srgbClr val="00B0F0"/>
                </a:solidFill>
              </a:rPr>
              <a:t>1/Interopérabilité entre sources diverses</a:t>
            </a:r>
          </a:p>
          <a:p>
            <a:r>
              <a:rPr lang="fr-FR" dirty="0" smtClean="0"/>
              <a:t>Sur le Web sémantique, les données viennent de sources multiples (bases de données, sites web, capteurs, documents RDF…).</a:t>
            </a:r>
          </a:p>
          <a:p>
            <a:r>
              <a:rPr lang="fr-FR" dirty="0" smtClean="0"/>
              <a:t>Si on ignore l’hétérogénéité, les systèmes ne pourront pas comprendre et combiner correctement ces données.</a:t>
            </a:r>
          </a:p>
          <a:p>
            <a:r>
              <a:rPr lang="fr-FR" u="sng" dirty="0" smtClean="0"/>
              <a:t>Exemple</a:t>
            </a:r>
            <a:r>
              <a:rPr lang="fr-FR" dirty="0" smtClean="0"/>
              <a:t> : un site stocke les dates en YYYY-MM-DD, un autre en DD/MM/YYYY. Sans homogénéisation, les applications ne peuvent pas interpréter les dates correctement.</a:t>
            </a:r>
          </a:p>
          <a:p>
            <a:r>
              <a:rPr lang="fr-FR" b="1" dirty="0" smtClean="0">
                <a:solidFill>
                  <a:srgbClr val="00B0F0"/>
                </a:solidFill>
              </a:rPr>
              <a:t>2/Alignement sémantique (même concept, même sens)</a:t>
            </a:r>
          </a:p>
          <a:p>
            <a:r>
              <a:rPr lang="fr-FR" dirty="0" smtClean="0"/>
              <a:t>Le Web sémantique repose sur ontologies et RDF : chaque donnée doit avoir un sens clair et unique.</a:t>
            </a:r>
          </a:p>
          <a:p>
            <a:r>
              <a:rPr lang="fr-FR" dirty="0" smtClean="0"/>
              <a:t>Si des concepts identiques sont nommés différemment ou ont des significations différentes, les requêtes et inférences seront incorrectes.</a:t>
            </a:r>
          </a:p>
          <a:p>
            <a:r>
              <a:rPr lang="fr-FR" u="sng" dirty="0" smtClean="0"/>
              <a:t>Exemple</a:t>
            </a:r>
            <a:r>
              <a:rPr lang="fr-FR" dirty="0" smtClean="0"/>
              <a:t> : </a:t>
            </a:r>
            <a:r>
              <a:rPr lang="fr-FR" dirty="0" err="1" smtClean="0"/>
              <a:t>employeeID</a:t>
            </a:r>
            <a:r>
              <a:rPr lang="fr-FR" dirty="0" smtClean="0"/>
              <a:t> dans une base et </a:t>
            </a:r>
            <a:r>
              <a:rPr lang="fr-FR" dirty="0" err="1" smtClean="0"/>
              <a:t>workerNumber</a:t>
            </a:r>
            <a:r>
              <a:rPr lang="fr-FR" dirty="0" smtClean="0"/>
              <a:t> dans une autre doivent être alignés comme le même concept pour éviter les erreurs.</a:t>
            </a:r>
          </a:p>
          <a:p>
            <a:endParaRPr lang="fr-FR" dirty="0"/>
          </a:p>
        </p:txBody>
      </p:sp>
      <p:sp>
        <p:nvSpPr>
          <p:cNvPr id="4" name="ZoneTexte 3"/>
          <p:cNvSpPr txBox="1"/>
          <p:nvPr/>
        </p:nvSpPr>
        <p:spPr>
          <a:xfrm>
            <a:off x="110936" y="1772816"/>
            <a:ext cx="8853552" cy="646331"/>
          </a:xfrm>
          <a:prstGeom prst="rect">
            <a:avLst/>
          </a:prstGeom>
          <a:noFill/>
        </p:spPr>
        <p:txBody>
          <a:bodyPr wrap="square" rtlCol="0">
            <a:spAutoFit/>
          </a:bodyPr>
          <a:lstStyle/>
          <a:p>
            <a:r>
              <a:rPr lang="fr-FR" dirty="0" smtClean="0"/>
              <a:t>Prendre en compte l’hétérogénéité des données est crucial pour réussir l’intégration sur le Web sémantique pour plusieurs raisons :</a:t>
            </a:r>
            <a:endParaRPr lang="fr-FR" dirty="0"/>
          </a:p>
        </p:txBody>
      </p:sp>
      <p:sp>
        <p:nvSpPr>
          <p:cNvPr id="6" name="Espace réservé du numéro de diapositive 5"/>
          <p:cNvSpPr>
            <a:spLocks noGrp="1"/>
          </p:cNvSpPr>
          <p:nvPr>
            <p:ph type="sldNum" sz="quarter" idx="12"/>
          </p:nvPr>
        </p:nvSpPr>
        <p:spPr/>
        <p:txBody>
          <a:bodyPr/>
          <a:lstStyle/>
          <a:p>
            <a:fld id="{E79450D1-C7F1-47D9-876A-A462F1D2F357}" type="slidenum">
              <a:rPr lang="fr-FR" smtClean="0"/>
              <a:t>3</a:t>
            </a:fld>
            <a:endParaRPr lang="fr-FR"/>
          </a:p>
        </p:txBody>
      </p:sp>
    </p:spTree>
    <p:extLst>
      <p:ext uri="{BB962C8B-B14F-4D97-AF65-F5344CB8AC3E}">
        <p14:creationId xmlns:p14="http://schemas.microsoft.com/office/powerpoint/2010/main" val="35940944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908720"/>
            <a:ext cx="8928992" cy="3240360"/>
          </a:xfrm>
        </p:spPr>
        <p:txBody>
          <a:bodyPr>
            <a:noAutofit/>
          </a:bodyPr>
          <a:lstStyle/>
          <a:p>
            <a:pPr algn="l"/>
            <a:r>
              <a:rPr lang="fr-FR" sz="1800" b="1" dirty="0" smtClean="0">
                <a:solidFill>
                  <a:srgbClr val="00B0F0"/>
                </a:solidFill>
              </a:rPr>
              <a:t>3/Qualité et fiabilité des données intégrées</a:t>
            </a:r>
            <a:br>
              <a:rPr lang="fr-FR" sz="1800" b="1" dirty="0" smtClean="0">
                <a:solidFill>
                  <a:srgbClr val="00B0F0"/>
                </a:solidFill>
              </a:rPr>
            </a:br>
            <a:r>
              <a:rPr lang="fr-FR" sz="1800" dirty="0" smtClean="0"/>
              <a:t>Ignorer l’hétérogénéité peut créer des doublons, incohérences ou conflits.</a:t>
            </a:r>
            <a:br>
              <a:rPr lang="fr-FR" sz="1800" dirty="0" smtClean="0"/>
            </a:br>
            <a:r>
              <a:rPr lang="fr-FR" sz="1800" dirty="0" smtClean="0"/>
              <a:t>Sur le Web sémantique, des relations fausses entre données peuvent être inférées si la structure ou le sens des données n’est pas harmonisé.</a:t>
            </a:r>
            <a:br>
              <a:rPr lang="fr-FR" sz="1800" dirty="0" smtClean="0"/>
            </a:br>
            <a:r>
              <a:rPr lang="fr-FR" sz="1800" b="1" dirty="0" smtClean="0">
                <a:solidFill>
                  <a:srgbClr val="00B0F0"/>
                </a:solidFill>
              </a:rPr>
              <a:t>4/Requêtes efficaces et inférences correctes</a:t>
            </a:r>
            <a:br>
              <a:rPr lang="fr-FR" sz="1800" b="1" dirty="0" smtClean="0">
                <a:solidFill>
                  <a:srgbClr val="00B0F0"/>
                </a:solidFill>
              </a:rPr>
            </a:br>
            <a:r>
              <a:rPr lang="fr-FR" sz="1800" dirty="0" smtClean="0"/>
              <a:t>Le Web sémantique utilise SPARQL pour interroger les données liées.</a:t>
            </a:r>
            <a:br>
              <a:rPr lang="fr-FR" sz="1800" dirty="0" smtClean="0"/>
            </a:br>
            <a:r>
              <a:rPr lang="fr-FR" sz="1800" dirty="0" smtClean="0"/>
              <a:t>Si les données sont hétérogènes et non normalisées, les requêtes renverront des résultats incomplets ou erronés.</a:t>
            </a:r>
            <a:br>
              <a:rPr lang="fr-FR" sz="1800" dirty="0" smtClean="0"/>
            </a:br>
            <a:r>
              <a:rPr lang="fr-FR" sz="1800" b="1" u="sng" dirty="0" smtClean="0">
                <a:solidFill>
                  <a:srgbClr val="00B0F0"/>
                </a:solidFill>
                <a:effectLst>
                  <a:outerShdw blurRad="38100" dist="38100" dir="2700000" algn="tl">
                    <a:srgbClr val="000000">
                      <a:alpha val="43137"/>
                    </a:srgbClr>
                  </a:outerShdw>
                </a:effectLst>
              </a:rPr>
              <a:t>En résumé :</a:t>
            </a:r>
            <a:br>
              <a:rPr lang="fr-FR" sz="1800" b="1" u="sng" dirty="0" smtClean="0">
                <a:solidFill>
                  <a:srgbClr val="00B0F0"/>
                </a:solidFill>
                <a:effectLst>
                  <a:outerShdw blurRad="38100" dist="38100" dir="2700000" algn="tl">
                    <a:srgbClr val="000000">
                      <a:alpha val="43137"/>
                    </a:srgbClr>
                  </a:outerShdw>
                </a:effectLst>
              </a:rPr>
            </a:br>
            <a:r>
              <a:rPr lang="fr-FR" sz="1800" dirty="0" smtClean="0"/>
              <a:t>Pour réussir une intégration sur le Web sémantique, il faut prendre en compte l’hétérogénéité afin de garantir que les données soient compatibles, alignées sémantiquement, cohérentes et exploitables. Sinon, le système ne peut pas raisonner correctement ni fournir des informations fiables.</a:t>
            </a:r>
            <a:br>
              <a:rPr lang="fr-FR" sz="1800" dirty="0" smtClean="0"/>
            </a:br>
            <a:endParaRPr lang="fr-FR" sz="1800" dirty="0"/>
          </a:p>
        </p:txBody>
      </p:sp>
      <p:sp>
        <p:nvSpPr>
          <p:cNvPr id="4" name="Espace réservé du numéro de diapositive 3"/>
          <p:cNvSpPr>
            <a:spLocks noGrp="1"/>
          </p:cNvSpPr>
          <p:nvPr>
            <p:ph type="sldNum" sz="quarter" idx="12"/>
          </p:nvPr>
        </p:nvSpPr>
        <p:spPr/>
        <p:txBody>
          <a:bodyPr/>
          <a:lstStyle/>
          <a:p>
            <a:fld id="{E79450D1-C7F1-47D9-876A-A462F1D2F357}" type="slidenum">
              <a:rPr lang="fr-FR" smtClean="0"/>
              <a:t>4</a:t>
            </a:fld>
            <a:endParaRPr lang="fr-FR"/>
          </a:p>
        </p:txBody>
      </p:sp>
    </p:spTree>
    <p:extLst>
      <p:ext uri="{BB962C8B-B14F-4D97-AF65-F5344CB8AC3E}">
        <p14:creationId xmlns:p14="http://schemas.microsoft.com/office/powerpoint/2010/main" val="21093896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400" b="1" dirty="0" smtClean="0">
                <a:solidFill>
                  <a:srgbClr val="7030A0"/>
                </a:solidFill>
              </a:rPr>
              <a:t>Quel rôle joue un knowledge graph dans la gestion et la représentation des données intégrées provenant de sources variées </a:t>
            </a:r>
            <a:endParaRPr lang="fr-FR" sz="2400" b="1" dirty="0">
              <a:solidFill>
                <a:srgbClr val="7030A0"/>
              </a:solidFill>
            </a:endParaRPr>
          </a:p>
        </p:txBody>
      </p:sp>
      <p:sp>
        <p:nvSpPr>
          <p:cNvPr id="4" name="Espace réservé du numéro de diapositive 3"/>
          <p:cNvSpPr>
            <a:spLocks noGrp="1"/>
          </p:cNvSpPr>
          <p:nvPr>
            <p:ph type="sldNum" sz="quarter" idx="12"/>
          </p:nvPr>
        </p:nvSpPr>
        <p:spPr/>
        <p:txBody>
          <a:bodyPr/>
          <a:lstStyle/>
          <a:p>
            <a:fld id="{E79450D1-C7F1-47D9-876A-A462F1D2F357}" type="slidenum">
              <a:rPr lang="fr-FR" smtClean="0"/>
              <a:t>5</a:t>
            </a:fld>
            <a:endParaRPr lang="fr-FR"/>
          </a:p>
        </p:txBody>
      </p:sp>
      <p:sp>
        <p:nvSpPr>
          <p:cNvPr id="5" name="ZoneTexte 4"/>
          <p:cNvSpPr txBox="1"/>
          <p:nvPr/>
        </p:nvSpPr>
        <p:spPr>
          <a:xfrm>
            <a:off x="0" y="1700808"/>
            <a:ext cx="9108504" cy="5078313"/>
          </a:xfrm>
          <a:prstGeom prst="rect">
            <a:avLst/>
          </a:prstGeom>
          <a:noFill/>
        </p:spPr>
        <p:txBody>
          <a:bodyPr wrap="square" rtlCol="0">
            <a:spAutoFit/>
          </a:bodyPr>
          <a:lstStyle/>
          <a:p>
            <a:r>
              <a:rPr lang="fr-FR" dirty="0" smtClean="0"/>
              <a:t>Un knowledge graph (graphe de connaissances) joue un rôle central dans la gestion et la représentation des données intégrées issues de sources variées. Voici les principaux rôles qu’il remplit :</a:t>
            </a:r>
          </a:p>
          <a:p>
            <a:r>
              <a:rPr lang="fr-FR" b="1" dirty="0" smtClean="0">
                <a:solidFill>
                  <a:srgbClr val="00B0F0"/>
                </a:solidFill>
              </a:rPr>
              <a:t>1/ Intégration sémantique des données</a:t>
            </a:r>
          </a:p>
          <a:p>
            <a:r>
              <a:rPr lang="fr-FR" dirty="0" smtClean="0"/>
              <a:t>Le knowledge graph permet de relier et unifier des données hétérogènes (bases relationnelles, fichiers, web, etc.) grâce à des relations sémantiques.</a:t>
            </a:r>
          </a:p>
          <a:p>
            <a:r>
              <a:rPr lang="fr-FR" dirty="0" smtClean="0"/>
              <a:t>➡ </a:t>
            </a:r>
            <a:r>
              <a:rPr lang="fr-FR" u="sng" dirty="0" smtClean="0"/>
              <a:t>Exemple </a:t>
            </a:r>
            <a:r>
              <a:rPr lang="fr-FR" dirty="0" smtClean="0"/>
              <a:t>: deux bases utilisent "client" et "consommateur" → le graphe peut les considérer comme un même concept.</a:t>
            </a:r>
          </a:p>
          <a:p>
            <a:r>
              <a:rPr lang="fr-FR" b="1" dirty="0" smtClean="0">
                <a:solidFill>
                  <a:srgbClr val="00B0F0"/>
                </a:solidFill>
              </a:rPr>
              <a:t>2/ Représentation des connaissances</a:t>
            </a:r>
          </a:p>
          <a:p>
            <a:r>
              <a:rPr lang="fr-FR" dirty="0" smtClean="0"/>
              <a:t>Il modélise la signification des données sous forme de nœuds (entités) et arêtes (relations).</a:t>
            </a:r>
          </a:p>
          <a:p>
            <a:r>
              <a:rPr lang="fr-FR" dirty="0" smtClean="0"/>
              <a:t>➡️ Cela permet de représenter des informations complexes de manière compréhensible et interconnectée (ex. : Client – achète – Produit).</a:t>
            </a:r>
          </a:p>
          <a:p>
            <a:r>
              <a:rPr lang="fr-FR" b="1" dirty="0" smtClean="0">
                <a:solidFill>
                  <a:srgbClr val="00B0F0"/>
                </a:solidFill>
              </a:rPr>
              <a:t>3/Uniformisation et enrichissement</a:t>
            </a:r>
          </a:p>
          <a:p>
            <a:r>
              <a:rPr lang="fr-FR" dirty="0" smtClean="0"/>
              <a:t>Le graphe standardise les formats et vocabulaires grâce à des ontologies (RDF, OWL).</a:t>
            </a:r>
          </a:p>
          <a:p>
            <a:r>
              <a:rPr lang="fr-FR" dirty="0" smtClean="0"/>
              <a:t>Il peut aussi enrichir les données en ajoutant des liens externes (ex. via </a:t>
            </a:r>
            <a:r>
              <a:rPr lang="fr-FR" dirty="0" err="1" smtClean="0"/>
              <a:t>Wikidata</a:t>
            </a:r>
            <a:r>
              <a:rPr lang="fr-FR" dirty="0" smtClean="0"/>
              <a:t> ou </a:t>
            </a:r>
            <a:r>
              <a:rPr lang="fr-FR" dirty="0" err="1" smtClean="0"/>
              <a:t>DBpedia</a:t>
            </a:r>
            <a:r>
              <a:rPr lang="fr-FR" dirty="0" smtClean="0"/>
              <a:t>).</a:t>
            </a:r>
          </a:p>
          <a:p>
            <a:r>
              <a:rPr lang="fr-FR" b="1" dirty="0" smtClean="0">
                <a:solidFill>
                  <a:srgbClr val="00B0F0"/>
                </a:solidFill>
              </a:rPr>
              <a:t>4/Amélioration de la qualité et cohérence des données</a:t>
            </a:r>
          </a:p>
          <a:p>
            <a:r>
              <a:rPr lang="fr-FR" dirty="0" smtClean="0"/>
              <a:t>Le graphe aide à détecter les doublons, incohérences ou manques d’information grâce à ses relations explicites et ses règles logiques.</a:t>
            </a:r>
            <a:endParaRPr lang="fr-FR" dirty="0"/>
          </a:p>
        </p:txBody>
      </p:sp>
    </p:spTree>
    <p:extLst>
      <p:ext uri="{BB962C8B-B14F-4D97-AF65-F5344CB8AC3E}">
        <p14:creationId xmlns:p14="http://schemas.microsoft.com/office/powerpoint/2010/main" val="39309922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b="1" dirty="0" smtClean="0">
                <a:solidFill>
                  <a:srgbClr val="7030A0"/>
                </a:solidFill>
              </a:rPr>
              <a:t>Les avantages du format graphe dans un contexte hétérogène </a:t>
            </a:r>
            <a:endParaRPr lang="fr-FR" sz="3600" b="1" dirty="0">
              <a:solidFill>
                <a:srgbClr val="7030A0"/>
              </a:solidFill>
            </a:endParaRPr>
          </a:p>
        </p:txBody>
      </p:sp>
      <p:sp>
        <p:nvSpPr>
          <p:cNvPr id="3" name="Espace réservé du numéro de diapositive 2"/>
          <p:cNvSpPr>
            <a:spLocks noGrp="1"/>
          </p:cNvSpPr>
          <p:nvPr>
            <p:ph type="sldNum" sz="quarter" idx="12"/>
          </p:nvPr>
        </p:nvSpPr>
        <p:spPr/>
        <p:txBody>
          <a:bodyPr/>
          <a:lstStyle/>
          <a:p>
            <a:fld id="{E79450D1-C7F1-47D9-876A-A462F1D2F357}" type="slidenum">
              <a:rPr lang="fr-FR" smtClean="0"/>
              <a:t>6</a:t>
            </a:fld>
            <a:endParaRPr lang="fr-FR"/>
          </a:p>
        </p:txBody>
      </p:sp>
      <p:sp>
        <p:nvSpPr>
          <p:cNvPr id="4" name="ZoneTexte 3"/>
          <p:cNvSpPr txBox="1"/>
          <p:nvPr/>
        </p:nvSpPr>
        <p:spPr>
          <a:xfrm>
            <a:off x="13728" y="1628800"/>
            <a:ext cx="9144000" cy="5078313"/>
          </a:xfrm>
          <a:prstGeom prst="rect">
            <a:avLst/>
          </a:prstGeom>
          <a:noFill/>
        </p:spPr>
        <p:txBody>
          <a:bodyPr wrap="square" rtlCol="0">
            <a:spAutoFit/>
          </a:bodyPr>
          <a:lstStyle/>
          <a:p>
            <a:r>
              <a:rPr lang="fr-FR" dirty="0" smtClean="0"/>
              <a:t>Le format graphe facilite l’exploration et le raisonnement dans un contexte hétérogène, contrairement aux bases relationnelles classiques , pour plusieurs raisons:</a:t>
            </a:r>
          </a:p>
          <a:p>
            <a:r>
              <a:rPr lang="fr-FR" b="1" dirty="0" smtClean="0">
                <a:solidFill>
                  <a:srgbClr val="00B0F0"/>
                </a:solidFill>
              </a:rPr>
              <a:t>1/Structure flexible et dynamique:</a:t>
            </a:r>
          </a:p>
          <a:p>
            <a:r>
              <a:rPr lang="fr-FR" dirty="0" smtClean="0"/>
              <a:t>Dans un graphe, les données sont représentées sous forme de nœuds (entités) et arêtes (relations), ce qui permet d’ajouter facilement de nouvelles sources ou relations sans modifier tout le schéma.</a:t>
            </a:r>
          </a:p>
          <a:p>
            <a:r>
              <a:rPr lang="fr-FR" dirty="0" smtClean="0"/>
              <a:t>➤ Dans une base relationnelle, il faut souvent modifier la structure (tables, clés étrangères, etc.), ce qui est complexe en cas de diversité de données.</a:t>
            </a:r>
          </a:p>
          <a:p>
            <a:r>
              <a:rPr lang="fr-FR" b="1" dirty="0" smtClean="0">
                <a:solidFill>
                  <a:srgbClr val="00B0F0"/>
                </a:solidFill>
              </a:rPr>
              <a:t>2/Représentation naturelle des liens sémantiques :</a:t>
            </a:r>
          </a:p>
          <a:p>
            <a:r>
              <a:rPr lang="fr-FR" dirty="0" smtClean="0"/>
              <a:t>Le graphe met directement en avant les relations entre les entités, ce qui rend l’exploration intuitive (on peut naviguer d’un concept à un autre).</a:t>
            </a:r>
          </a:p>
          <a:p>
            <a:r>
              <a:rPr lang="fr-FR" dirty="0" smtClean="0"/>
              <a:t>➤ En SQL, il faut faire de nombreuses jointures pour relier les tables, ce qui rend les requêtes lourdes et moins lisibles.</a:t>
            </a:r>
          </a:p>
          <a:p>
            <a:r>
              <a:rPr lang="fr-FR" b="1" dirty="0" smtClean="0">
                <a:solidFill>
                  <a:srgbClr val="00B0F0"/>
                </a:solidFill>
              </a:rPr>
              <a:t>3/Intégration des données hétérogènes</a:t>
            </a:r>
          </a:p>
          <a:p>
            <a:r>
              <a:rPr lang="fr-FR" dirty="0" smtClean="0"/>
              <a:t>Les graphes peuvent intégrer des données structurées, semi-structurées et non structurées tout en conservant leur sens grâce à des ontologies et vocabulaires communs.</a:t>
            </a:r>
          </a:p>
          <a:p>
            <a:r>
              <a:rPr lang="fr-FR" dirty="0" smtClean="0"/>
              <a:t>➤ Les bases relationnelles exigent un format uniforme et un schéma fixe, difficile à maintenir dans un contexte hétérogène.</a:t>
            </a:r>
            <a:endParaRPr lang="fr-FR" dirty="0"/>
          </a:p>
        </p:txBody>
      </p:sp>
    </p:spTree>
    <p:extLst>
      <p:ext uri="{BB962C8B-B14F-4D97-AF65-F5344CB8AC3E}">
        <p14:creationId xmlns:p14="http://schemas.microsoft.com/office/powerpoint/2010/main" val="24496213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7030A0"/>
                </a:solidFill>
              </a:rPr>
              <a:t>Contribution des knowledge graphs à l’apprentissage automatique </a:t>
            </a:r>
            <a:endParaRPr lang="fr-FR" b="1" dirty="0">
              <a:solidFill>
                <a:srgbClr val="7030A0"/>
              </a:solidFill>
            </a:endParaRPr>
          </a:p>
        </p:txBody>
      </p:sp>
      <p:sp>
        <p:nvSpPr>
          <p:cNvPr id="3" name="Espace réservé du numéro de diapositive 2"/>
          <p:cNvSpPr>
            <a:spLocks noGrp="1"/>
          </p:cNvSpPr>
          <p:nvPr>
            <p:ph type="sldNum" sz="quarter" idx="12"/>
          </p:nvPr>
        </p:nvSpPr>
        <p:spPr/>
        <p:txBody>
          <a:bodyPr/>
          <a:lstStyle/>
          <a:p>
            <a:fld id="{E79450D1-C7F1-47D9-876A-A462F1D2F357}" type="slidenum">
              <a:rPr lang="fr-FR" smtClean="0"/>
              <a:t>7</a:t>
            </a:fld>
            <a:endParaRPr lang="fr-FR"/>
          </a:p>
        </p:txBody>
      </p:sp>
      <p:sp>
        <p:nvSpPr>
          <p:cNvPr id="4" name="ZoneTexte 3"/>
          <p:cNvSpPr txBox="1"/>
          <p:nvPr/>
        </p:nvSpPr>
        <p:spPr>
          <a:xfrm>
            <a:off x="117800" y="1502688"/>
            <a:ext cx="9036496" cy="5355312"/>
          </a:xfrm>
          <a:prstGeom prst="rect">
            <a:avLst/>
          </a:prstGeom>
          <a:noFill/>
        </p:spPr>
        <p:txBody>
          <a:bodyPr wrap="square" rtlCol="0">
            <a:spAutoFit/>
          </a:bodyPr>
          <a:lstStyle/>
          <a:p>
            <a:r>
              <a:rPr lang="fr-FR" dirty="0" smtClean="0"/>
              <a:t>Les knowledge graphs améliorent les résultats et la contextualisation des applications d’apprentissage automatique grâce à leur capacité à apporter du sens et du contexte aux données utilisées par des modèles :</a:t>
            </a:r>
          </a:p>
          <a:p>
            <a:r>
              <a:rPr lang="fr-FR" b="1" dirty="0" smtClean="0">
                <a:solidFill>
                  <a:srgbClr val="00B0F0"/>
                </a:solidFill>
              </a:rPr>
              <a:t>1/Structure flexible et dynamique</a:t>
            </a:r>
          </a:p>
          <a:p>
            <a:r>
              <a:rPr lang="fr-FR" dirty="0" smtClean="0"/>
              <a:t>Dans un graphe, les données sont représentées sous forme de nœuds (entités) et arêtes (relations), ce qui permet d’ajouter facilement de nouvelles sources ou relations sans modifier tout le schéma.</a:t>
            </a:r>
          </a:p>
          <a:p>
            <a:r>
              <a:rPr lang="fr-FR" dirty="0" smtClean="0"/>
              <a:t>➤ Dans une base relationnelle, il faut souvent modifier la structure (tables, clés étrangères, etc.), ce qui est complexe en cas de diversité de données.</a:t>
            </a:r>
          </a:p>
          <a:p>
            <a:r>
              <a:rPr lang="fr-FR" b="1" dirty="0" smtClean="0">
                <a:solidFill>
                  <a:srgbClr val="00B0F0"/>
                </a:solidFill>
              </a:rPr>
              <a:t> 2/Représentation naturelle des liens sémantiques</a:t>
            </a:r>
          </a:p>
          <a:p>
            <a:r>
              <a:rPr lang="fr-FR" dirty="0" smtClean="0"/>
              <a:t>Le graphe met directement en avant les relations entre les entités, ce qui rend l’exploration intuitive (on peut naviguer d’un concept à un autre).</a:t>
            </a:r>
          </a:p>
          <a:p>
            <a:r>
              <a:rPr lang="fr-FR" dirty="0" smtClean="0"/>
              <a:t>➤ En SQL, il faut faire de nombreuses jointures pour relier les tables, ce qui rend les requêtes lourdes et moins lisibles.</a:t>
            </a:r>
          </a:p>
          <a:p>
            <a:r>
              <a:rPr lang="fr-FR" b="1" dirty="0" smtClean="0">
                <a:solidFill>
                  <a:srgbClr val="00B0F0"/>
                </a:solidFill>
              </a:rPr>
              <a:t> 3/Intégration des données hétérogènes</a:t>
            </a:r>
          </a:p>
          <a:p>
            <a:r>
              <a:rPr lang="fr-FR" dirty="0" smtClean="0"/>
              <a:t>Les graphes peuvent intégrer des données structurées, semi-structurées et non structurées tout en conservant leur sens grâce à des ontologies et vocabulaires communs.</a:t>
            </a:r>
          </a:p>
          <a:p>
            <a:r>
              <a:rPr lang="fr-FR" dirty="0" smtClean="0"/>
              <a:t>➤ Les bases relationnelles exigent un format uniforme et un schéma fixe, difficile à maintenir dans un contexte hétérogène.</a:t>
            </a:r>
            <a:endParaRPr lang="fr-FR" dirty="0"/>
          </a:p>
        </p:txBody>
      </p:sp>
    </p:spTree>
    <p:extLst>
      <p:ext uri="{BB962C8B-B14F-4D97-AF65-F5344CB8AC3E}">
        <p14:creationId xmlns:p14="http://schemas.microsoft.com/office/powerpoint/2010/main" val="11723484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7030A0"/>
                </a:solidFill>
              </a:rPr>
              <a:t>Interaction entre les LLM et les knowledge graphs </a:t>
            </a:r>
            <a:br>
              <a:rPr lang="fr-FR" b="1" dirty="0" smtClean="0">
                <a:solidFill>
                  <a:srgbClr val="7030A0"/>
                </a:solidFill>
              </a:rPr>
            </a:br>
            <a:endParaRPr lang="fr-FR" b="1" dirty="0">
              <a:solidFill>
                <a:srgbClr val="7030A0"/>
              </a:solidFill>
            </a:endParaRPr>
          </a:p>
        </p:txBody>
      </p:sp>
      <p:sp>
        <p:nvSpPr>
          <p:cNvPr id="3" name="Espace réservé du numéro de diapositive 2"/>
          <p:cNvSpPr>
            <a:spLocks noGrp="1"/>
          </p:cNvSpPr>
          <p:nvPr>
            <p:ph type="sldNum" sz="quarter" idx="12"/>
          </p:nvPr>
        </p:nvSpPr>
        <p:spPr/>
        <p:txBody>
          <a:bodyPr/>
          <a:lstStyle/>
          <a:p>
            <a:fld id="{E79450D1-C7F1-47D9-876A-A462F1D2F357}" type="slidenum">
              <a:rPr lang="fr-FR" smtClean="0"/>
              <a:t>8</a:t>
            </a:fld>
            <a:endParaRPr lang="fr-FR"/>
          </a:p>
        </p:txBody>
      </p:sp>
      <p:graphicFrame>
        <p:nvGraphicFramePr>
          <p:cNvPr id="4" name="Tableau 3"/>
          <p:cNvGraphicFramePr>
            <a:graphicFrameLocks noGrp="1"/>
          </p:cNvGraphicFramePr>
          <p:nvPr>
            <p:extLst>
              <p:ext uri="{D42A27DB-BD31-4B8C-83A1-F6EECF244321}">
                <p14:modId xmlns:p14="http://schemas.microsoft.com/office/powerpoint/2010/main" val="93298877"/>
              </p:ext>
            </p:extLst>
          </p:nvPr>
        </p:nvGraphicFramePr>
        <p:xfrm>
          <a:off x="107504" y="1257320"/>
          <a:ext cx="8388424" cy="4475936"/>
        </p:xfrm>
        <a:graphic>
          <a:graphicData uri="http://schemas.openxmlformats.org/drawingml/2006/table">
            <a:tbl>
              <a:tblPr firstRow="1" bandRow="1">
                <a:tableStyleId>{5940675A-B579-460E-94D1-54222C63F5DA}</a:tableStyleId>
              </a:tblPr>
              <a:tblGrid>
                <a:gridCol w="2032000"/>
                <a:gridCol w="3512616"/>
                <a:gridCol w="2843808"/>
              </a:tblGrid>
              <a:tr h="370840">
                <a:tc>
                  <a:txBody>
                    <a:bodyPr/>
                    <a:lstStyle/>
                    <a:p>
                      <a:r>
                        <a:rPr lang="fr-FR" b="1" dirty="0" smtClean="0"/>
                        <a:t>Rôles</a:t>
                      </a:r>
                      <a:r>
                        <a:rPr lang="fr-FR" dirty="0" smtClean="0"/>
                        <a:t> </a:t>
                      </a:r>
                      <a:endParaRPr lang="fr-FR" dirty="0"/>
                    </a:p>
                  </a:txBody>
                  <a:tcPr/>
                </a:tc>
                <a:tc>
                  <a:txBody>
                    <a:bodyPr/>
                    <a:lstStyle/>
                    <a:p>
                      <a:r>
                        <a:rPr lang="fr-FR" b="1" dirty="0" smtClean="0"/>
                        <a:t>Comment les LLM</a:t>
                      </a:r>
                      <a:r>
                        <a:rPr lang="fr-FR" b="1" baseline="0" dirty="0" smtClean="0"/>
                        <a:t> interviennent </a:t>
                      </a:r>
                      <a:endParaRPr lang="fr-FR" b="1" dirty="0"/>
                    </a:p>
                  </a:txBody>
                  <a:tcPr/>
                </a:tc>
                <a:tc>
                  <a:txBody>
                    <a:bodyPr/>
                    <a:lstStyle/>
                    <a:p>
                      <a:r>
                        <a:rPr lang="fr-FR" b="1" dirty="0" smtClean="0"/>
                        <a:t>Résultats</a:t>
                      </a:r>
                      <a:r>
                        <a:rPr lang="fr-FR" b="1" baseline="0" dirty="0" smtClean="0"/>
                        <a:t> obtenu </a:t>
                      </a:r>
                      <a:endParaRPr lang="fr-FR" b="1" dirty="0"/>
                    </a:p>
                  </a:txBody>
                  <a:tcPr/>
                </a:tc>
              </a:tr>
              <a:tr h="853296">
                <a:tc>
                  <a:txBody>
                    <a:bodyPr/>
                    <a:lstStyle/>
                    <a:p>
                      <a:pPr algn="ctr"/>
                      <a:r>
                        <a:rPr lang="fr-FR" sz="1400" b="1" dirty="0" smtClean="0">
                          <a:solidFill>
                            <a:srgbClr val="00B0F0"/>
                          </a:solidFill>
                        </a:rPr>
                        <a:t>Enrichissement du graphe</a:t>
                      </a:r>
                      <a:r>
                        <a:rPr lang="fr-FR" b="1" dirty="0" smtClean="0"/>
                        <a:t> </a:t>
                      </a:r>
                      <a:endParaRPr lang="fr-FR" b="1" dirty="0"/>
                    </a:p>
                  </a:txBody>
                  <a:tcPr/>
                </a:tc>
                <a:tc>
                  <a:txBody>
                    <a:bodyPr/>
                    <a:lstStyle/>
                    <a:p>
                      <a:r>
                        <a:rPr lang="fr-FR" sz="1400" dirty="0" smtClean="0"/>
                        <a:t>Les LLM extraient</a:t>
                      </a:r>
                      <a:r>
                        <a:rPr lang="fr-FR" sz="1400" baseline="0" dirty="0" smtClean="0"/>
                        <a:t> des faits et relations à partir de textes non structurés ( articles , documents, web ) pour ajouter de nouvelles entités ou liens au graphe </a:t>
                      </a:r>
                      <a:endParaRPr lang="fr-FR" sz="1400" dirty="0"/>
                    </a:p>
                  </a:txBody>
                  <a:tcPr/>
                </a:tc>
                <a:tc>
                  <a:txBody>
                    <a:bodyPr/>
                    <a:lstStyle/>
                    <a:p>
                      <a:r>
                        <a:rPr lang="fr-FR" sz="1400" dirty="0" smtClean="0"/>
                        <a:t>Graphe</a:t>
                      </a:r>
                      <a:r>
                        <a:rPr lang="fr-FR" sz="1400" baseline="0" dirty="0" smtClean="0"/>
                        <a:t> plus complet et à jour </a:t>
                      </a:r>
                      <a:endParaRPr lang="fr-FR" sz="1400" dirty="0"/>
                    </a:p>
                  </a:txBody>
                  <a:tcPr/>
                </a:tc>
              </a:tr>
              <a:tr h="626472">
                <a:tc>
                  <a:txBody>
                    <a:bodyPr/>
                    <a:lstStyle/>
                    <a:p>
                      <a:pPr algn="ctr"/>
                      <a:r>
                        <a:rPr lang="fr-FR" sz="1400" b="1" dirty="0" smtClean="0">
                          <a:solidFill>
                            <a:srgbClr val="00B0F0"/>
                          </a:solidFill>
                        </a:rPr>
                        <a:t>Génération des requêtes</a:t>
                      </a:r>
                      <a:r>
                        <a:rPr lang="fr-FR" sz="1400" b="1" baseline="0" dirty="0" smtClean="0">
                          <a:solidFill>
                            <a:srgbClr val="00B0F0"/>
                          </a:solidFill>
                        </a:rPr>
                        <a:t> intelligentes </a:t>
                      </a:r>
                      <a:endParaRPr lang="fr-FR" sz="1400" b="1" dirty="0">
                        <a:solidFill>
                          <a:srgbClr val="00B0F0"/>
                        </a:solidFill>
                      </a:endParaRPr>
                    </a:p>
                  </a:txBody>
                  <a:tcPr/>
                </a:tc>
                <a:tc>
                  <a:txBody>
                    <a:bodyPr/>
                    <a:lstStyle/>
                    <a:p>
                      <a:r>
                        <a:rPr lang="fr-FR" sz="1400" dirty="0" smtClean="0"/>
                        <a:t>Le</a:t>
                      </a:r>
                      <a:r>
                        <a:rPr lang="fr-FR" sz="1400" baseline="0" dirty="0" smtClean="0"/>
                        <a:t> LLM traduit une question en langage naturel vers une requêtes formelle (ex, SPARQL) sur le graph </a:t>
                      </a:r>
                      <a:endParaRPr lang="fr-FR" sz="1400" dirty="0"/>
                    </a:p>
                  </a:txBody>
                  <a:tcPr/>
                </a:tc>
                <a:tc>
                  <a:txBody>
                    <a:bodyPr/>
                    <a:lstStyle/>
                    <a:p>
                      <a:r>
                        <a:rPr lang="fr-FR" sz="1400" dirty="0" smtClean="0"/>
                        <a:t>Accès plus facile aux données pour les utilisateurs non techniques</a:t>
                      </a:r>
                      <a:endParaRPr lang="fr-FR" sz="1400" dirty="0"/>
                    </a:p>
                  </a:txBody>
                  <a:tcPr/>
                </a:tc>
              </a:tr>
              <a:tr h="905088">
                <a:tc>
                  <a:txBody>
                    <a:bodyPr/>
                    <a:lstStyle/>
                    <a:p>
                      <a:pPr algn="ctr"/>
                      <a:r>
                        <a:rPr lang="fr-FR" sz="1400" b="1" dirty="0" smtClean="0">
                          <a:solidFill>
                            <a:srgbClr val="00B0F0"/>
                          </a:solidFill>
                        </a:rPr>
                        <a:t>Dialogue et explication</a:t>
                      </a:r>
                      <a:r>
                        <a:rPr lang="fr-FR" sz="1400" b="1" dirty="0" smtClean="0"/>
                        <a:t> </a:t>
                      </a:r>
                      <a:endParaRPr lang="fr-FR" sz="1400" b="1" dirty="0"/>
                    </a:p>
                  </a:txBody>
                  <a:tcPr/>
                </a:tc>
                <a:tc>
                  <a:txBody>
                    <a:bodyPr/>
                    <a:lstStyle/>
                    <a:p>
                      <a:r>
                        <a:rPr lang="fr-FR" sz="1400" dirty="0" smtClean="0"/>
                        <a:t>Les LLM peuvent interagir avec le graph</a:t>
                      </a:r>
                      <a:r>
                        <a:rPr lang="fr-FR" sz="1400" baseline="0" dirty="0" smtClean="0"/>
                        <a:t> pour répondre à des questions, expliquer des relations ou résumer des sous-graphes </a:t>
                      </a:r>
                      <a:endParaRPr lang="fr-FR" sz="1400" dirty="0"/>
                    </a:p>
                  </a:txBody>
                  <a:tcPr/>
                </a:tc>
                <a:tc>
                  <a:txBody>
                    <a:bodyPr/>
                    <a:lstStyle/>
                    <a:p>
                      <a:r>
                        <a:rPr lang="fr-FR" sz="1400" dirty="0" smtClean="0"/>
                        <a:t>Résultats plus fiables et contextualisés</a:t>
                      </a:r>
                      <a:endParaRPr lang="fr-FR" sz="1400" dirty="0"/>
                    </a:p>
                  </a:txBody>
                  <a:tcPr/>
                </a:tc>
              </a:tr>
              <a:tr h="792088">
                <a:tc>
                  <a:txBody>
                    <a:bodyPr/>
                    <a:lstStyle/>
                    <a:p>
                      <a:r>
                        <a:rPr lang="fr-FR" sz="1400" b="1" dirty="0" smtClean="0">
                          <a:solidFill>
                            <a:srgbClr val="00B0F0"/>
                          </a:solidFill>
                        </a:rPr>
                        <a:t>Raisonnement hybride</a:t>
                      </a:r>
                      <a:r>
                        <a:rPr lang="fr-FR" sz="1400" b="1" dirty="0" smtClean="0"/>
                        <a:t> </a:t>
                      </a:r>
                      <a:endParaRPr lang="fr-FR" sz="1400" b="1" dirty="0"/>
                    </a:p>
                  </a:txBody>
                  <a:tcPr/>
                </a:tc>
                <a:tc>
                  <a:txBody>
                    <a:bodyPr/>
                    <a:lstStyle/>
                    <a:p>
                      <a:r>
                        <a:rPr lang="fr-FR" sz="1400" dirty="0" smtClean="0"/>
                        <a:t>Les LLM utilisent</a:t>
                      </a:r>
                      <a:r>
                        <a:rPr lang="fr-FR" sz="1400" baseline="0" dirty="0" smtClean="0"/>
                        <a:t> les relations structurées du graphe pour raisonner plus précisément (vérification , cohérence , inférence logique )</a:t>
                      </a:r>
                      <a:endParaRPr lang="fr-FR" sz="1400" dirty="0"/>
                    </a:p>
                  </a:txBody>
                  <a:tcPr/>
                </a:tc>
                <a:tc>
                  <a:txBody>
                    <a:bodyPr/>
                    <a:lstStyle/>
                    <a:p>
                      <a:r>
                        <a:rPr lang="fr-FR" sz="1400" dirty="0" smtClean="0"/>
                        <a:t>Résultats plus cohérent et mieux</a:t>
                      </a:r>
                      <a:r>
                        <a:rPr lang="fr-FR" sz="1400" baseline="0" dirty="0" smtClean="0"/>
                        <a:t> intégré </a:t>
                      </a:r>
                      <a:endParaRPr lang="fr-FR" sz="1400" dirty="0"/>
                    </a:p>
                  </a:txBody>
                  <a:tcPr/>
                </a:tc>
              </a:tr>
              <a:tr h="720080">
                <a:tc>
                  <a:txBody>
                    <a:bodyPr/>
                    <a:lstStyle/>
                    <a:p>
                      <a:pPr algn="ctr"/>
                      <a:r>
                        <a:rPr lang="fr-FR" sz="1400" b="1" dirty="0" smtClean="0">
                          <a:solidFill>
                            <a:srgbClr val="00B0F0"/>
                          </a:solidFill>
                        </a:rPr>
                        <a:t>Alignement et cohérence des connaissances</a:t>
                      </a:r>
                      <a:endParaRPr lang="fr-FR" sz="1400" b="1" dirty="0">
                        <a:solidFill>
                          <a:srgbClr val="00B0F0"/>
                        </a:solidFill>
                      </a:endParaRPr>
                    </a:p>
                  </a:txBody>
                  <a:tcPr/>
                </a:tc>
                <a:tc>
                  <a:txBody>
                    <a:bodyPr/>
                    <a:lstStyle/>
                    <a:p>
                      <a:r>
                        <a:rPr lang="fr-FR" sz="1400" dirty="0" smtClean="0"/>
                        <a:t>Les LLM aident à détecter les contradictions</a:t>
                      </a:r>
                      <a:r>
                        <a:rPr lang="fr-FR" sz="1400" baseline="0" dirty="0" smtClean="0"/>
                        <a:t> ou à aligner plusieurs graphes entre eux grâces à leur compréhension du langage </a:t>
                      </a:r>
                      <a:endParaRPr lang="fr-FR" sz="1400" dirty="0"/>
                    </a:p>
                  </a:txBody>
                  <a:tcPr/>
                </a:tc>
                <a:tc>
                  <a:txBody>
                    <a:bodyPr/>
                    <a:lstStyle/>
                    <a:p>
                      <a:r>
                        <a:rPr lang="fr-FR" sz="1400" dirty="0" smtClean="0"/>
                        <a:t>Graphe plus cohérent et mieux intégré </a:t>
                      </a:r>
                      <a:endParaRPr lang="fr-FR" sz="1400" dirty="0"/>
                    </a:p>
                  </a:txBody>
                  <a:tcPr/>
                </a:tc>
              </a:tr>
            </a:tbl>
          </a:graphicData>
        </a:graphic>
      </p:graphicFrame>
      <p:sp>
        <p:nvSpPr>
          <p:cNvPr id="6" name="ZoneTexte 5"/>
          <p:cNvSpPr txBox="1"/>
          <p:nvPr/>
        </p:nvSpPr>
        <p:spPr>
          <a:xfrm>
            <a:off x="107504" y="5877272"/>
            <a:ext cx="8352928" cy="923330"/>
          </a:xfrm>
          <a:prstGeom prst="rect">
            <a:avLst/>
          </a:prstGeom>
          <a:noFill/>
        </p:spPr>
        <p:txBody>
          <a:bodyPr wrap="square" rtlCol="0">
            <a:spAutoFit/>
          </a:bodyPr>
          <a:lstStyle/>
          <a:p>
            <a:r>
              <a:rPr lang="fr-FR" dirty="0" smtClean="0"/>
              <a:t>➡ </a:t>
            </a:r>
            <a:r>
              <a:rPr lang="fr-FR" dirty="0" smtClean="0"/>
              <a:t>Les LLM apportent l’intelligence linguistique et contextuelle, tandis que les knowledge graphs offrent la structure et la fiabilité  Ensemble , ils assurent une compréhension plus précise et cohérent des données </a:t>
            </a:r>
            <a:endParaRPr lang="fr-FR" dirty="0"/>
          </a:p>
        </p:txBody>
      </p:sp>
    </p:spTree>
    <p:extLst>
      <p:ext uri="{BB962C8B-B14F-4D97-AF65-F5344CB8AC3E}">
        <p14:creationId xmlns:p14="http://schemas.microsoft.com/office/powerpoint/2010/main" val="2839250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7030A0"/>
                </a:solidFill>
              </a:rPr>
              <a:t>Les défis de l’utilisation conjointe des knowledge graphs et des LLM</a:t>
            </a:r>
            <a:endParaRPr lang="fr-FR" b="1" dirty="0">
              <a:solidFill>
                <a:srgbClr val="7030A0"/>
              </a:solidFill>
            </a:endParaRPr>
          </a:p>
        </p:txBody>
      </p:sp>
      <p:sp>
        <p:nvSpPr>
          <p:cNvPr id="3" name="Espace réservé du numéro de diapositive 2"/>
          <p:cNvSpPr>
            <a:spLocks noGrp="1"/>
          </p:cNvSpPr>
          <p:nvPr>
            <p:ph type="sldNum" sz="quarter" idx="12"/>
          </p:nvPr>
        </p:nvSpPr>
        <p:spPr/>
        <p:txBody>
          <a:bodyPr/>
          <a:lstStyle/>
          <a:p>
            <a:fld id="{E79450D1-C7F1-47D9-876A-A462F1D2F357}" type="slidenum">
              <a:rPr lang="fr-FR" smtClean="0"/>
              <a:t>9</a:t>
            </a:fld>
            <a:endParaRPr lang="fr-FR"/>
          </a:p>
        </p:txBody>
      </p:sp>
      <p:sp>
        <p:nvSpPr>
          <p:cNvPr id="4" name="ZoneTexte 3"/>
          <p:cNvSpPr txBox="1"/>
          <p:nvPr/>
        </p:nvSpPr>
        <p:spPr>
          <a:xfrm>
            <a:off x="0" y="1804174"/>
            <a:ext cx="8604448" cy="4247317"/>
          </a:xfrm>
          <a:prstGeom prst="rect">
            <a:avLst/>
          </a:prstGeom>
          <a:noFill/>
        </p:spPr>
        <p:txBody>
          <a:bodyPr wrap="square" rtlCol="0">
            <a:spAutoFit/>
          </a:bodyPr>
          <a:lstStyle/>
          <a:p>
            <a:r>
              <a:rPr lang="fr-FR" b="1" dirty="0" smtClean="0">
                <a:solidFill>
                  <a:srgbClr val="00B0F0"/>
                </a:solidFill>
              </a:rPr>
              <a:t>1/Alignement sémantique</a:t>
            </a:r>
          </a:p>
          <a:p>
            <a:r>
              <a:rPr lang="fr-FR" dirty="0" smtClean="0"/>
              <a:t>Difficile d’assurer une correspondance exacte entre le langage naturel compris par le LLM et les entités structurées du graphe.</a:t>
            </a:r>
          </a:p>
          <a:p>
            <a:endParaRPr lang="fr-FR" dirty="0" smtClean="0"/>
          </a:p>
          <a:p>
            <a:r>
              <a:rPr lang="fr-FR" b="1" dirty="0" smtClean="0">
                <a:solidFill>
                  <a:srgbClr val="00B0F0"/>
                </a:solidFill>
              </a:rPr>
              <a:t>2/Hétérogénéité des données</a:t>
            </a:r>
            <a:r>
              <a:rPr lang="fr-FR" dirty="0" smtClean="0"/>
              <a:t>	</a:t>
            </a:r>
          </a:p>
          <a:p>
            <a:r>
              <a:rPr lang="fr-FR" dirty="0" smtClean="0"/>
              <a:t>Les données proviennent de sources, formats et vocabulaires variés, rendant leur intégration complexe.</a:t>
            </a:r>
          </a:p>
          <a:p>
            <a:endParaRPr lang="fr-FR" dirty="0" smtClean="0"/>
          </a:p>
          <a:p>
            <a:r>
              <a:rPr lang="fr-FR" b="1" dirty="0" smtClean="0">
                <a:solidFill>
                  <a:srgbClr val="00B0F0"/>
                </a:solidFill>
              </a:rPr>
              <a:t>3/Mise à jour et cohérence</a:t>
            </a:r>
            <a:r>
              <a:rPr lang="fr-FR" dirty="0" smtClean="0"/>
              <a:t>	</a:t>
            </a:r>
          </a:p>
          <a:p>
            <a:r>
              <a:rPr lang="fr-FR" dirty="0" smtClean="0"/>
              <a:t>Les LLM peuvent générer des informations erronées (hallucinations), ce qui menace la fiabilité du graphe.</a:t>
            </a:r>
          </a:p>
          <a:p>
            <a:endParaRPr lang="fr-FR" dirty="0" smtClean="0"/>
          </a:p>
          <a:p>
            <a:r>
              <a:rPr lang="fr-FR" b="1" dirty="0" smtClean="0">
                <a:solidFill>
                  <a:srgbClr val="00B0F0"/>
                </a:solidFill>
              </a:rPr>
              <a:t>4/Représentation du contexte</a:t>
            </a:r>
          </a:p>
          <a:p>
            <a:r>
              <a:rPr lang="fr-FR" dirty="0" smtClean="0"/>
              <a:t>Les LLM traitent le texte de manière séquentielle, alors que les graphes utilisent une structure relationnelle — leur fusion demande un modèle commun de représentation.</a:t>
            </a:r>
            <a:endParaRPr lang="fr-FR" dirty="0"/>
          </a:p>
        </p:txBody>
      </p:sp>
    </p:spTree>
    <p:extLst>
      <p:ext uri="{BB962C8B-B14F-4D97-AF65-F5344CB8AC3E}">
        <p14:creationId xmlns:p14="http://schemas.microsoft.com/office/powerpoint/2010/main" val="31943600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7030A0"/>
                </a:solidFill>
              </a:rPr>
              <a:t>«  KG+LLM: l’intelligence artificielle devient compréhensive et fiable  »</a:t>
            </a:r>
            <a:endParaRPr lang="fr-FR" b="1" dirty="0">
              <a:solidFill>
                <a:srgbClr val="7030A0"/>
              </a:solidFill>
            </a:endParaRPr>
          </a:p>
        </p:txBody>
      </p:sp>
      <p:sp>
        <p:nvSpPr>
          <p:cNvPr id="3" name="Espace réservé du numéro de diapositive 2"/>
          <p:cNvSpPr>
            <a:spLocks noGrp="1"/>
          </p:cNvSpPr>
          <p:nvPr>
            <p:ph type="sldNum" sz="quarter" idx="12"/>
          </p:nvPr>
        </p:nvSpPr>
        <p:spPr/>
        <p:txBody>
          <a:bodyPr/>
          <a:lstStyle/>
          <a:p>
            <a:fld id="{E79450D1-C7F1-47D9-876A-A462F1D2F357}" type="slidenum">
              <a:rPr lang="fr-FR" smtClean="0"/>
              <a:t>10</a:t>
            </a:fld>
            <a:endParaRPr lang="fr-FR"/>
          </a:p>
        </p:txBody>
      </p:sp>
      <p:sp>
        <p:nvSpPr>
          <p:cNvPr id="4" name="ZoneTexte 3"/>
          <p:cNvSpPr txBox="1"/>
          <p:nvPr/>
        </p:nvSpPr>
        <p:spPr>
          <a:xfrm>
            <a:off x="179512" y="1628800"/>
            <a:ext cx="8964488" cy="5355312"/>
          </a:xfrm>
          <a:prstGeom prst="rect">
            <a:avLst/>
          </a:prstGeom>
          <a:noFill/>
        </p:spPr>
        <p:txBody>
          <a:bodyPr wrap="square" rtlCol="0">
            <a:spAutoFit/>
          </a:bodyPr>
          <a:lstStyle/>
          <a:p>
            <a:r>
              <a:rPr lang="fr-FR" b="1" dirty="0" smtClean="0">
                <a:solidFill>
                  <a:srgbClr val="00B0F0"/>
                </a:solidFill>
              </a:rPr>
              <a:t>1/Compréhension plus profonde et explicable</a:t>
            </a:r>
          </a:p>
          <a:p>
            <a:r>
              <a:rPr lang="fr-FR" dirty="0" smtClean="0"/>
              <a:t>Les LLM comprennent le langage naturel et génèrent du texte fluide, mais manquent souvent de structure et d’</a:t>
            </a:r>
            <a:r>
              <a:rPr lang="fr-FR" dirty="0" err="1" smtClean="0"/>
              <a:t>explicabilité</a:t>
            </a:r>
            <a:r>
              <a:rPr lang="fr-FR" dirty="0" smtClean="0"/>
              <a:t> .</a:t>
            </a:r>
          </a:p>
          <a:p>
            <a:r>
              <a:rPr lang="fr-FR" dirty="0" smtClean="0"/>
              <a:t>Les KG apportent une base de connaissances explicite et vérifiable.</a:t>
            </a:r>
          </a:p>
          <a:p>
            <a:r>
              <a:rPr lang="fr-FR" dirty="0" smtClean="0"/>
              <a:t>➡Ensemble, ils permettent à l’IA d’expliquer ses réponses et de raisonner de manière logique, pas seulement statistique.</a:t>
            </a:r>
          </a:p>
          <a:p>
            <a:r>
              <a:rPr lang="fr-FR" b="1" dirty="0" smtClean="0">
                <a:solidFill>
                  <a:srgbClr val="00B0F0"/>
                </a:solidFill>
              </a:rPr>
              <a:t>2/Raisonnement hybride (symbolique + statistique)</a:t>
            </a:r>
          </a:p>
          <a:p>
            <a:r>
              <a:rPr lang="fr-FR" dirty="0" smtClean="0"/>
              <a:t>Les LLM excellent dans la compréhension </a:t>
            </a:r>
            <a:r>
              <a:rPr lang="fr-FR" dirty="0" err="1" smtClean="0"/>
              <a:t>contextuelle,tandis</a:t>
            </a:r>
            <a:r>
              <a:rPr lang="fr-FR" dirty="0" smtClean="0"/>
              <a:t> que les KG représentent les relations entre entités de façon logique et symbolique.</a:t>
            </a:r>
          </a:p>
          <a:p>
            <a:r>
              <a:rPr lang="fr-FR" dirty="0" smtClean="0"/>
              <a:t>➡️ Leur combinaison permet à l’IA de raisonner sur des faits, d’inférer de nouvelles connaissances et d’éviter les erreurs de cohérence (hallucinations).</a:t>
            </a:r>
          </a:p>
          <a:p>
            <a:r>
              <a:rPr lang="fr-FR" b="1" dirty="0" smtClean="0">
                <a:solidFill>
                  <a:srgbClr val="00B0F0"/>
                </a:solidFill>
              </a:rPr>
              <a:t>3/Amélioration de la précision et réduction des hallucinations</a:t>
            </a:r>
          </a:p>
          <a:p>
            <a:r>
              <a:rPr lang="fr-FR" dirty="0" smtClean="0"/>
              <a:t>Les KG servent de source de vérité structurée , ce qui aide les LLM à vérifier ou corriger leurs réponses avant de les produire.</a:t>
            </a:r>
          </a:p>
          <a:p>
            <a:r>
              <a:rPr lang="fr-FR" dirty="0" smtClean="0"/>
              <a:t>➡️ Résultat : des réponses plus fiables et cohérentes.</a:t>
            </a:r>
          </a:p>
          <a:p>
            <a:r>
              <a:rPr lang="fr-FR" b="1" dirty="0" smtClean="0">
                <a:solidFill>
                  <a:srgbClr val="00B0F0"/>
                </a:solidFill>
              </a:rPr>
              <a:t>4/Meilleure gestion de la connaissance dynamique</a:t>
            </a:r>
          </a:p>
          <a:p>
            <a:r>
              <a:rPr lang="fr-FR" dirty="0" smtClean="0"/>
              <a:t>Les KG peuvent être mis à jour facilement avec de nouvelles données . En liant un LLM à un KG, on obtient un modèle qui apprend du texte mais s’adapte en continu aux connaissances réelles.</a:t>
            </a:r>
            <a:endParaRPr lang="fr-FR" dirty="0"/>
          </a:p>
        </p:txBody>
      </p:sp>
    </p:spTree>
    <p:extLst>
      <p:ext uri="{BB962C8B-B14F-4D97-AF65-F5344CB8AC3E}">
        <p14:creationId xmlns:p14="http://schemas.microsoft.com/office/powerpoint/2010/main" val="6561146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900" b="1" dirty="0" smtClean="0">
                <a:solidFill>
                  <a:srgbClr val="7030A0"/>
                </a:solidFill>
              </a:rPr>
              <a:t>L’integration entre le web sémantique , les KG et LLM </a:t>
            </a:r>
            <a:endParaRPr lang="fr-FR" sz="3900" b="1" dirty="0">
              <a:solidFill>
                <a:srgbClr val="7030A0"/>
              </a:solidFill>
            </a:endParaRPr>
          </a:p>
        </p:txBody>
      </p:sp>
      <p:sp>
        <p:nvSpPr>
          <p:cNvPr id="3" name="Espace réservé du numéro de diapositive 2"/>
          <p:cNvSpPr>
            <a:spLocks noGrp="1"/>
          </p:cNvSpPr>
          <p:nvPr>
            <p:ph type="sldNum" sz="quarter" idx="12"/>
          </p:nvPr>
        </p:nvSpPr>
        <p:spPr/>
        <p:txBody>
          <a:bodyPr/>
          <a:lstStyle/>
          <a:p>
            <a:fld id="{E79450D1-C7F1-47D9-876A-A462F1D2F357}" type="slidenum">
              <a:rPr lang="fr-FR" smtClean="0"/>
              <a:t>11</a:t>
            </a:fld>
            <a:endParaRPr lang="fr-FR"/>
          </a:p>
        </p:txBody>
      </p:sp>
      <p:sp>
        <p:nvSpPr>
          <p:cNvPr id="4" name="ZoneTexte 3"/>
          <p:cNvSpPr txBox="1"/>
          <p:nvPr/>
        </p:nvSpPr>
        <p:spPr>
          <a:xfrm>
            <a:off x="-11280" y="1412776"/>
            <a:ext cx="9145016" cy="5355312"/>
          </a:xfrm>
          <a:prstGeom prst="rect">
            <a:avLst/>
          </a:prstGeom>
          <a:noFill/>
        </p:spPr>
        <p:txBody>
          <a:bodyPr wrap="square" rtlCol="0">
            <a:spAutoFit/>
          </a:bodyPr>
          <a:lstStyle/>
          <a:p>
            <a:r>
              <a:rPr lang="fr-FR" dirty="0" smtClean="0"/>
              <a:t>L’integration entre le web sémantique, les KG et les LLM ouvre les perspectives puissantes dans plusieurs scénarios métiers ou la compréhension de sens , la cohérence des connaissances et la capacité linguistique sont cruciale voici les plus prometteurs :  </a:t>
            </a:r>
          </a:p>
          <a:p>
            <a:r>
              <a:rPr lang="fr-FR" b="1" dirty="0" smtClean="0">
                <a:solidFill>
                  <a:srgbClr val="00B0F0"/>
                </a:solidFill>
              </a:rPr>
              <a:t>1/Recherche d’information intelligente (</a:t>
            </a:r>
            <a:r>
              <a:rPr lang="fr-FR" b="1" dirty="0" err="1" smtClean="0">
                <a:solidFill>
                  <a:srgbClr val="00B0F0"/>
                </a:solidFill>
              </a:rPr>
              <a:t>Semantic</a:t>
            </a:r>
            <a:r>
              <a:rPr lang="fr-FR" b="1" dirty="0" smtClean="0">
                <a:solidFill>
                  <a:srgbClr val="00B0F0"/>
                </a:solidFill>
              </a:rPr>
              <a:t> </a:t>
            </a:r>
            <a:r>
              <a:rPr lang="fr-FR" b="1" dirty="0" err="1" smtClean="0">
                <a:solidFill>
                  <a:srgbClr val="00B0F0"/>
                </a:solidFill>
              </a:rPr>
              <a:t>Search</a:t>
            </a:r>
            <a:r>
              <a:rPr lang="fr-FR" b="1" dirty="0" smtClean="0">
                <a:solidFill>
                  <a:srgbClr val="00B0F0"/>
                </a:solidFill>
              </a:rPr>
              <a:t>)</a:t>
            </a:r>
          </a:p>
          <a:p>
            <a:r>
              <a:rPr lang="fr-FR" dirty="0" smtClean="0"/>
              <a:t>Problème : </a:t>
            </a:r>
            <a:r>
              <a:rPr lang="fr-FR" dirty="0" smtClean="0"/>
              <a:t>Les moteurs de recherche textuels classiques ne comprennent pas le sens des requêtes .</a:t>
            </a:r>
            <a:endParaRPr lang="fr-FR" dirty="0" smtClean="0"/>
          </a:p>
          <a:p>
            <a:r>
              <a:rPr lang="fr-FR" dirty="0" smtClean="0"/>
              <a:t>Apport :Les LLM interprètent la question en langage </a:t>
            </a:r>
            <a:r>
              <a:rPr lang="fr-FR" dirty="0" err="1" smtClean="0"/>
              <a:t>naturel.Les</a:t>
            </a:r>
            <a:r>
              <a:rPr lang="fr-FR" dirty="0" smtClean="0"/>
              <a:t> Knowledge Graphs relient les concepts entre eux (entités, relations).Le Web sémantique assure l’interopérabilité entre sources.</a:t>
            </a:r>
          </a:p>
          <a:p>
            <a:r>
              <a:rPr lang="fr-FR" dirty="0" smtClean="0"/>
              <a:t>➡️ Résultat : une recherche contextuelle, explicable et pertinente (utile dans les moteurs internes d’entreprise ou les assistants IA).</a:t>
            </a:r>
          </a:p>
          <a:p>
            <a:r>
              <a:rPr lang="fr-FR" b="1" dirty="0" smtClean="0">
                <a:solidFill>
                  <a:srgbClr val="00B0F0"/>
                </a:solidFill>
              </a:rPr>
              <a:t>2/Santé et biomédecine</a:t>
            </a:r>
          </a:p>
          <a:p>
            <a:r>
              <a:rPr lang="fr-FR" dirty="0" smtClean="0"/>
              <a:t>Problème : Données médicales hétérogènes et volumineuses .</a:t>
            </a:r>
          </a:p>
          <a:p>
            <a:r>
              <a:rPr lang="fr-FR" dirty="0" smtClean="0"/>
              <a:t>Apport :Les KG structurent la connaissance médicale (maladies, symptômes, médicaments).Les LLM comprennent et résument les rapports cliniques</a:t>
            </a:r>
          </a:p>
          <a:p>
            <a:r>
              <a:rPr lang="fr-FR" dirty="0" smtClean="0"/>
              <a:t>.Ensemble, ils aident à l’aide au diagnostic, à la recherche de traitements et à la découverte de médicaments.</a:t>
            </a:r>
          </a:p>
          <a:p>
            <a:r>
              <a:rPr lang="fr-FR" dirty="0" smtClean="0"/>
              <a:t>➡️ Exemple : un assistant IA qui relie les résultats de laboratoire à la littérature médicale pour proposer une hypothèse clinique</a:t>
            </a:r>
            <a:endParaRPr lang="fr-FR" dirty="0"/>
          </a:p>
        </p:txBody>
      </p:sp>
    </p:spTree>
    <p:extLst>
      <p:ext uri="{BB962C8B-B14F-4D97-AF65-F5344CB8AC3E}">
        <p14:creationId xmlns:p14="http://schemas.microsoft.com/office/powerpoint/2010/main" val="12067296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E79450D1-C7F1-47D9-876A-A462F1D2F357}" type="slidenum">
              <a:rPr lang="fr-FR" smtClean="0"/>
              <a:t>12</a:t>
            </a:fld>
            <a:endParaRPr lang="fr-FR"/>
          </a:p>
        </p:txBody>
      </p:sp>
      <p:sp>
        <p:nvSpPr>
          <p:cNvPr id="4" name="ZoneTexte 3"/>
          <p:cNvSpPr txBox="1"/>
          <p:nvPr/>
        </p:nvSpPr>
        <p:spPr>
          <a:xfrm>
            <a:off x="0" y="548680"/>
            <a:ext cx="9036496" cy="4801314"/>
          </a:xfrm>
          <a:prstGeom prst="rect">
            <a:avLst/>
          </a:prstGeom>
          <a:noFill/>
        </p:spPr>
        <p:txBody>
          <a:bodyPr wrap="square" rtlCol="0">
            <a:spAutoFit/>
          </a:bodyPr>
          <a:lstStyle/>
          <a:p>
            <a:r>
              <a:rPr lang="fr-FR" b="1" dirty="0" smtClean="0">
                <a:solidFill>
                  <a:srgbClr val="00B0F0"/>
                </a:solidFill>
              </a:rPr>
              <a:t>3/Business Intelligence &amp; analyse décisionnelle </a:t>
            </a:r>
          </a:p>
          <a:p>
            <a:r>
              <a:rPr lang="fr-FR" dirty="0" smtClean="0"/>
              <a:t>Problème : Données issues de multiples systèmes (ERP, CRM, etc.).</a:t>
            </a:r>
          </a:p>
          <a:p>
            <a:r>
              <a:rPr lang="fr-FR" dirty="0" smtClean="0"/>
              <a:t>Apport :Les KG unifient la sémantique des données.</a:t>
            </a:r>
          </a:p>
          <a:p>
            <a:r>
              <a:rPr lang="fr-FR" dirty="0" smtClean="0"/>
              <a:t>Les LLM permettent d’interroger le système en langage naturel ("Quel est le produit le plus rentable ce trimestre ?").</a:t>
            </a:r>
          </a:p>
          <a:p>
            <a:r>
              <a:rPr lang="fr-FR" dirty="0" smtClean="0"/>
              <a:t>➡️ On obtient une BI conversationnelle, cohérente et sémantiquement enrichie.</a:t>
            </a:r>
          </a:p>
          <a:p>
            <a:r>
              <a:rPr lang="fr-FR" b="1" dirty="0" smtClean="0">
                <a:solidFill>
                  <a:srgbClr val="00B0F0"/>
                </a:solidFill>
              </a:rPr>
              <a:t>4/Éducation &amp; e-learning intelligent</a:t>
            </a:r>
          </a:p>
          <a:p>
            <a:r>
              <a:rPr lang="fr-FR" dirty="0" smtClean="0"/>
              <a:t>Problème : Adapter le contenu aux besoins spécifiques des apprenants .</a:t>
            </a:r>
          </a:p>
          <a:p>
            <a:r>
              <a:rPr lang="fr-FR" dirty="0" smtClean="0"/>
              <a:t>Apport :Les KG représentent les concepts d’un domaine d’apprentissage.</a:t>
            </a:r>
          </a:p>
          <a:p>
            <a:r>
              <a:rPr lang="fr-FR" dirty="0" smtClean="0"/>
              <a:t>Les LLM génèrent des exercices personnalisés ou expliquent un concept en fonction du profil de l’étudiant.</a:t>
            </a:r>
          </a:p>
          <a:p>
            <a:r>
              <a:rPr lang="fr-FR" dirty="0" smtClean="0"/>
              <a:t>➡️ Un apprentissage contextuel, progressif et personnalisé.</a:t>
            </a:r>
          </a:p>
          <a:p>
            <a:r>
              <a:rPr lang="fr-FR" b="1" dirty="0" smtClean="0">
                <a:solidFill>
                  <a:srgbClr val="00B0F0"/>
                </a:solidFill>
              </a:rPr>
              <a:t>5/Découverte scientifique &amp; R&amp;D</a:t>
            </a:r>
          </a:p>
          <a:p>
            <a:r>
              <a:rPr lang="fr-FR" dirty="0" smtClean="0"/>
              <a:t>Problème : Les connaissances sont dispersées dans d’innombrables articles.</a:t>
            </a:r>
          </a:p>
          <a:p>
            <a:r>
              <a:rPr lang="fr-FR" dirty="0" smtClean="0"/>
              <a:t>Apport :Les LLM comprennent et synthétisent les publications.</a:t>
            </a:r>
          </a:p>
          <a:p>
            <a:r>
              <a:rPr lang="fr-FR" dirty="0" smtClean="0"/>
              <a:t>Les KG relient les résultats, auteurs, concepts et expériences.</a:t>
            </a:r>
          </a:p>
          <a:p>
            <a:r>
              <a:rPr lang="fr-FR" dirty="0" smtClean="0"/>
              <a:t>➡️ Une exploration assistée et raisonnée des savoirs scientifiques.</a:t>
            </a:r>
            <a:endParaRPr lang="fr-FR" dirty="0"/>
          </a:p>
        </p:txBody>
      </p:sp>
    </p:spTree>
    <p:extLst>
      <p:ext uri="{BB962C8B-B14F-4D97-AF65-F5344CB8AC3E}">
        <p14:creationId xmlns:p14="http://schemas.microsoft.com/office/powerpoint/2010/main" val="279671597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1722</TotalTime>
  <Words>1735</Words>
  <Application>Microsoft Office PowerPoint</Application>
  <PresentationFormat>Affichage à l'écran (4:3)</PresentationFormat>
  <Paragraphs>144</Paragraphs>
  <Slides>12</Slides>
  <Notes>0</Notes>
  <HiddenSlides>0</HiddenSlides>
  <MMClips>0</MMClips>
  <ScaleCrop>false</ScaleCrop>
  <HeadingPairs>
    <vt:vector size="4" baseType="variant">
      <vt:variant>
        <vt:lpstr>Thème</vt:lpstr>
      </vt:variant>
      <vt:variant>
        <vt:i4>1</vt:i4>
      </vt:variant>
      <vt:variant>
        <vt:lpstr>Titres des diapositives</vt:lpstr>
      </vt:variant>
      <vt:variant>
        <vt:i4>12</vt:i4>
      </vt:variant>
    </vt:vector>
  </HeadingPairs>
  <TitlesOfParts>
    <vt:vector size="13" baseType="lpstr">
      <vt:lpstr>Thème Office</vt:lpstr>
      <vt:lpstr>Que est ce que l’hétérogénéité des données dans le contexte de l’integration  </vt:lpstr>
      <vt:lpstr>Les étapes de l’hétérogénéité :</vt:lpstr>
      <vt:lpstr>Importance de l’hétérogénéité dans l’intégration Web sémantique</vt:lpstr>
      <vt:lpstr>3/Qualité et fiabilité des données intégrées Ignorer l’hétérogénéité peut créer des doublons, incohérences ou conflits. Sur le Web sémantique, des relations fausses entre données peuvent être inférées si la structure ou le sens des données n’est pas harmonisé. 4/Requêtes efficaces et inférences correctes Le Web sémantique utilise SPARQL pour interroger les données liées. Si les données sont hétérogènes et non normalisées, les requêtes renverront des résultats incomplets ou erronés. En résumé : Pour réussir une intégration sur le Web sémantique, il faut prendre en compte l’hétérogénéité afin de garantir que les données soient compatibles, alignées sémantiquement, cohérentes et exploitables. Sinon, le système ne peut pas raisonner correctement ni fournir des informations fiables. </vt:lpstr>
      <vt:lpstr>Quel rôle joue un knowledge graph dans la gestion et la représentation des données intégrées provenant de sources variées </vt:lpstr>
      <vt:lpstr>Les avantages du format graphe dans un contexte hétérogène </vt:lpstr>
      <vt:lpstr>Contribution des knowledge graphs à l’apprentissage automatique </vt:lpstr>
      <vt:lpstr>Interaction entre les LLM et les knowledge graphs  </vt:lpstr>
      <vt:lpstr>Les défis de l’utilisation conjointe des knowledge graphs et des LLM</vt:lpstr>
      <vt:lpstr>«  KG+LLM: l’intelligence artificielle devient compréhensive et fiable  »</vt:lpstr>
      <vt:lpstr>L’integration entre le web sémantique , les KG et LLM </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pc</dc:creator>
  <cp:lastModifiedBy>pc</cp:lastModifiedBy>
  <cp:revision>14</cp:revision>
  <dcterms:created xsi:type="dcterms:W3CDTF">2025-10-29T13:45:03Z</dcterms:created>
  <dcterms:modified xsi:type="dcterms:W3CDTF">2025-10-30T18:27:47Z</dcterms:modified>
</cp:coreProperties>
</file>